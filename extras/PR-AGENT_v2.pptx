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23.png" ContentType="image/png"/>
  <Override PartName="/ppt/media/image22.png" ContentType="image/png"/>
  <Override PartName="/ppt/media/image21.png" ContentType="image/png"/>
  <Override PartName="/ppt/media/image19.png" ContentType="image/png"/>
  <Override PartName="/ppt/media/image20.png" ContentType="image/png"/>
  <Override PartName="/ppt/media/image18.png" ContentType="image/png"/>
  <Override PartName="/ppt/media/image17.png" ContentType="image/png"/>
  <Override PartName="/ppt/media/image16.png" ContentType="image/png"/>
  <Override PartName="/ppt/media/image15.png" ContentType="image/png"/>
  <Override PartName="/ppt/media/image14.png" ContentType="image/png"/>
  <Override PartName="/ppt/media/image24.png" ContentType="image/png"/>
  <Override PartName="/ppt/media/image1.png" ContentType="image/png"/>
  <Override PartName="/ppt/media/image31.png" ContentType="image/png"/>
  <Override PartName="/ppt/media/image25.png" ContentType="image/png"/>
  <Override PartName="/ppt/media/image2.png" ContentType="image/png"/>
  <Override PartName="/ppt/media/image32.png" ContentType="image/png"/>
  <Override PartName="/ppt/media/image26.png" ContentType="image/png"/>
  <Override PartName="/ppt/media/image3.png" ContentType="image/png"/>
  <Override PartName="/ppt/media/image33.png" ContentType="image/png"/>
  <Override PartName="/ppt/media/image13.png" ContentType="image/png"/>
  <Override PartName="/ppt/media/image8.png" ContentType="image/png"/>
  <Override PartName="/ppt/media/image38.png" ContentType="image/png"/>
  <Override PartName="/ppt/media/image40.png" ContentType="image/png"/>
  <Override PartName="/ppt/media/image9.png" ContentType="image/png"/>
  <Override PartName="/ppt/media/image39.png" ContentType="image/png"/>
  <Override PartName="/ppt/media/image41.png" ContentType="image/png"/>
  <Override PartName="/ppt/media/image30.png" ContentType="image/png"/>
  <Override PartName="/ppt/media/image28.png" ContentType="image/pn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11.png" ContentType="image/png"/>
  <Override PartName="/ppt/media/image12.png" ContentType="image/png"/>
  <Override PartName="/ppt/media/image10.png" ContentType="image/png"/>
  <Override PartName="/ppt/media/image47.png" ContentType="image/png"/>
  <Override PartName="/ppt/media/image37.png" ContentType="image/png"/>
  <Override PartName="/ppt/media/image7.png" ContentType="image/png"/>
  <Override PartName="/ppt/media/image36.png" ContentType="image/png"/>
  <Override PartName="/ppt/media/image6.png" ContentType="image/png"/>
  <Override PartName="/ppt/media/image29.png" ContentType="image/png"/>
  <Override PartName="/ppt/media/image5.png" ContentType="image/png"/>
  <Override PartName="/ppt/media/image35.png" ContentType="image/png"/>
  <Override PartName="/ppt/media/image34.png" ContentType="image/png"/>
  <Override PartName="/ppt/media/image4.png" ContentType="image/png"/>
  <Override PartName="/ppt/media/image27.png" ContentType="image/png"/>
  <Override PartName="/ppt/presProps.xml" ContentType="application/vnd.openxmlformats-officedocument.presentationml.presProps+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173E5D40-A052-49A9-88CD-521BC65F8073}"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D0FC1DC-F927-436C-A850-C7CB3FB79B8E}"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BF243C4-9D3A-4E43-B2B4-111E7A0300D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FBF0AAB-5028-4AAD-8CEC-F58FC2BD8798}"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A3FCD0A-1F6A-4FB5-B3EE-FE20956E522B}"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257E05E7-7A9B-43C4-83C3-4B1EC46B59D7}"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021BD8E-5227-4E3E-BE14-937944817642}"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9F72EFF-48E5-484B-9CAF-0501FD8C37C7}"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1035AB1-1294-4ACC-953A-B9445CA2A467}"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CC04025-EC99-468D-A115-F6944E976889}"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162D0DAA-E864-4491-B226-2044B2D07114}"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F1B021BE-5F95-434B-9D73-4AD7A4E75022}" type="slidenum">
              <a:t>&lt;#&gt;</a:t>
            </a:fld>
          </a:p>
        </p:txBody>
      </p:sp>
      <p:sp>
        <p:nvSpPr>
          <p:cNvPr id="11" name="PlaceHolder 10"/>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tabLst>
                <a:tab algn="l" pos="0"/>
              </a:tabLst>
              <a:defRPr b="0" lang="en-US" sz="1200" spc="-1" strike="noStrike">
                <a:solidFill>
                  <a:srgbClr val="888888"/>
                </a:solidFill>
                <a:latin typeface="Calibri"/>
                <a:ea typeface="Calibri"/>
              </a:defRPr>
            </a:lvl1pPr>
          </a:lstStyle>
          <a:p>
            <a:pPr algn="r">
              <a:lnSpc>
                <a:spcPct val="100000"/>
              </a:lnSpc>
              <a:buNone/>
              <a:tabLst>
                <a:tab algn="l" pos="0"/>
              </a:tabLst>
            </a:pPr>
            <a:fld id="{F95A2645-91C7-4A92-809D-239F3D473BEB}" type="slidenum">
              <a:rPr b="0" lang="en-US" sz="1200" spc="-1" strike="noStrike">
                <a:solidFill>
                  <a:srgbClr val="888888"/>
                </a:solidFill>
                <a:latin typeface="Calibri"/>
                <a:ea typeface="Calibri"/>
              </a:rPr>
              <a:t>&lt;number&gt;</a:t>
            </a:fld>
            <a:endParaRPr b="0" lang="en-US" sz="1200" spc="-1" strike="noStrike">
              <a:latin typeface="Times New Roman"/>
            </a:endParaRP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1214"/>
        </a:solidFill>
      </p:bgPr>
    </p:bg>
    <p:spTree>
      <p:nvGrpSpPr>
        <p:cNvPr id="1" name=""/>
        <p:cNvGrpSpPr/>
        <p:nvPr/>
      </p:nvGrpSpPr>
      <p:grpSpPr>
        <a:xfrm>
          <a:off x="0" y="0"/>
          <a:ext cx="0" cy="0"/>
          <a:chOff x="0" y="0"/>
          <a:chExt cx="0" cy="0"/>
        </a:xfrm>
      </p:grpSpPr>
      <p:pic>
        <p:nvPicPr>
          <p:cNvPr id="41" name="Google Shape;84;p13" descr="image.png"/>
          <p:cNvPicPr/>
          <p:nvPr/>
        </p:nvPicPr>
        <p:blipFill>
          <a:blip r:embed="rId1"/>
          <a:srcRect l="0" t="-110" r="0" b="110"/>
          <a:stretch/>
        </p:blipFill>
        <p:spPr>
          <a:xfrm>
            <a:off x="-75960" y="228960"/>
            <a:ext cx="12191760" cy="6857640"/>
          </a:xfrm>
          <a:prstGeom prst="rect">
            <a:avLst/>
          </a:prstGeom>
          <a:ln w="0">
            <a:noFill/>
          </a:ln>
        </p:spPr>
      </p:pic>
      <p:pic>
        <p:nvPicPr>
          <p:cNvPr id="42" name="Google Shape;85;p13" descr="image.png"/>
          <p:cNvPicPr/>
          <p:nvPr/>
        </p:nvPicPr>
        <p:blipFill>
          <a:blip r:embed="rId2"/>
          <a:stretch/>
        </p:blipFill>
        <p:spPr>
          <a:xfrm>
            <a:off x="4954320" y="2324160"/>
            <a:ext cx="2282400" cy="342720"/>
          </a:xfrm>
          <a:prstGeom prst="rect">
            <a:avLst/>
          </a:prstGeom>
          <a:ln w="0">
            <a:noFill/>
          </a:ln>
        </p:spPr>
      </p:pic>
      <p:sp>
        <p:nvSpPr>
          <p:cNvPr id="43" name="Google Shape;86;p13"/>
          <p:cNvSpPr/>
          <p:nvPr/>
        </p:nvSpPr>
        <p:spPr>
          <a:xfrm>
            <a:off x="2572920" y="2857680"/>
            <a:ext cx="7045560" cy="1809720"/>
          </a:xfrm>
          <a:prstGeom prst="rect">
            <a:avLst/>
          </a:prstGeom>
          <a:noFill/>
          <a:ln w="0">
            <a:noFill/>
          </a:ln>
        </p:spPr>
        <p:style>
          <a:lnRef idx="0"/>
          <a:fillRef idx="0"/>
          <a:effectRef idx="0"/>
          <a:fontRef idx="minor"/>
        </p:style>
        <p:txBody>
          <a:bodyPr lIns="0" rIns="0" tIns="0" bIns="0" anchor="t">
            <a:spAutoFit/>
          </a:bodyPr>
          <a:p>
            <a:pPr algn="ctr">
              <a:lnSpc>
                <a:spcPct val="110000"/>
              </a:lnSpc>
              <a:buNone/>
              <a:tabLst>
                <a:tab algn="l" pos="0"/>
              </a:tabLst>
            </a:pPr>
            <a:r>
              <a:rPr b="0" lang="en-US" sz="5400" spc="-1" strike="noStrike">
                <a:solidFill>
                  <a:srgbClr val="f8fafc"/>
                </a:solidFill>
                <a:latin typeface="Outfit ExtraBold"/>
                <a:ea typeface="Outfit ExtraBold"/>
              </a:rPr>
              <a:t>PR Intelligence Agent</a:t>
            </a:r>
            <a:endParaRPr b="0" lang="en-US" sz="5400" spc="-1" strike="noStrike">
              <a:latin typeface="Arial"/>
            </a:endParaRPr>
          </a:p>
        </p:txBody>
      </p:sp>
      <p:sp>
        <p:nvSpPr>
          <p:cNvPr id="44" name="Google Shape;87;p13"/>
          <p:cNvSpPr/>
          <p:nvPr/>
        </p:nvSpPr>
        <p:spPr>
          <a:xfrm>
            <a:off x="2286000" y="3802320"/>
            <a:ext cx="7619760" cy="871560"/>
          </a:xfrm>
          <a:prstGeom prst="rect">
            <a:avLst/>
          </a:prstGeom>
          <a:noFill/>
          <a:ln w="0">
            <a:noFill/>
          </a:ln>
        </p:spPr>
        <p:style>
          <a:lnRef idx="0"/>
          <a:fillRef idx="0"/>
          <a:effectRef idx="0"/>
          <a:fontRef idx="minor"/>
        </p:style>
        <p:txBody>
          <a:bodyPr lIns="0" rIns="0" tIns="0" bIns="0" anchor="t">
            <a:spAutoFit/>
          </a:bodyPr>
          <a:p>
            <a:pPr algn="ctr">
              <a:lnSpc>
                <a:spcPct val="159000"/>
              </a:lnSpc>
              <a:buNone/>
              <a:tabLst>
                <a:tab algn="l" pos="0"/>
              </a:tabLst>
            </a:pPr>
            <a:r>
              <a:rPr b="0" lang="en-US" sz="1800" spc="-1" strike="noStrike">
                <a:solidFill>
                  <a:srgbClr val="cbd5e1"/>
                </a:solidFill>
                <a:latin typeface="Outfit Light"/>
                <a:ea typeface="Outfit Light"/>
              </a:rPr>
              <a:t>Nền tảng tự động theo dõi, phân tích và cảnh báo Pull Request thời gian thực thông qua chuỗi 10 AI Agents chuyên biệt.</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1214"/>
        </a:solidFill>
      </p:bgPr>
    </p:bg>
    <p:spTree>
      <p:nvGrpSpPr>
        <p:cNvPr id="1" name=""/>
        <p:cNvGrpSpPr/>
        <p:nvPr/>
      </p:nvGrpSpPr>
      <p:grpSpPr>
        <a:xfrm>
          <a:off x="0" y="0"/>
          <a:ext cx="0" cy="0"/>
          <a:chOff x="0" y="0"/>
          <a:chExt cx="0" cy="0"/>
        </a:xfrm>
      </p:grpSpPr>
      <p:pic>
        <p:nvPicPr>
          <p:cNvPr id="45" name="Google Shape;92;p14" descr="image.png"/>
          <p:cNvPicPr/>
          <p:nvPr/>
        </p:nvPicPr>
        <p:blipFill>
          <a:blip r:embed="rId1"/>
          <a:stretch/>
        </p:blipFill>
        <p:spPr>
          <a:xfrm>
            <a:off x="0" y="0"/>
            <a:ext cx="12191760" cy="6857640"/>
          </a:xfrm>
          <a:prstGeom prst="rect">
            <a:avLst/>
          </a:prstGeom>
          <a:ln w="0">
            <a:noFill/>
          </a:ln>
        </p:spPr>
      </p:pic>
      <p:sp>
        <p:nvSpPr>
          <p:cNvPr id="46" name="Google Shape;93;p14"/>
          <p:cNvSpPr/>
          <p:nvPr/>
        </p:nvSpPr>
        <p:spPr>
          <a:xfrm>
            <a:off x="762120" y="571680"/>
            <a:ext cx="5350320" cy="50292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3300" spc="-1" strike="noStrike">
                <a:solidFill>
                  <a:srgbClr val="f8fafc"/>
                </a:solidFill>
                <a:latin typeface="Outfit ExtraBold"/>
                <a:ea typeface="Outfit ExtraBold"/>
              </a:rPr>
              <a:t>Tại sao cần PR Agent?</a:t>
            </a:r>
            <a:endParaRPr b="0" lang="en-US" sz="3300" spc="-1" strike="noStrike">
              <a:latin typeface="Arial"/>
            </a:endParaRPr>
          </a:p>
        </p:txBody>
      </p:sp>
      <p:sp>
        <p:nvSpPr>
          <p:cNvPr id="47" name="Google Shape;94;p14"/>
          <p:cNvSpPr/>
          <p:nvPr/>
        </p:nvSpPr>
        <p:spPr>
          <a:xfrm>
            <a:off x="571680" y="571680"/>
            <a:ext cx="56880" cy="523440"/>
          </a:xfrm>
          <a:prstGeom prst="rect">
            <a:avLst/>
          </a:prstGeom>
          <a:solidFill>
            <a:srgbClr val="6366f1"/>
          </a:solidFill>
          <a:ln w="0">
            <a:noFill/>
          </a:ln>
        </p:spPr>
        <p:style>
          <a:lnRef idx="0"/>
          <a:fillRef idx="0"/>
          <a:effectRef idx="0"/>
          <a:fontRef idx="minor"/>
        </p:style>
      </p:sp>
      <p:pic>
        <p:nvPicPr>
          <p:cNvPr id="48" name="Google Shape;95;p14" descr="image.png"/>
          <p:cNvPicPr/>
          <p:nvPr/>
        </p:nvPicPr>
        <p:blipFill>
          <a:blip r:embed="rId2"/>
          <a:stretch/>
        </p:blipFill>
        <p:spPr>
          <a:xfrm>
            <a:off x="6334200" y="0"/>
            <a:ext cx="5857560" cy="6857640"/>
          </a:xfrm>
          <a:prstGeom prst="rect">
            <a:avLst/>
          </a:prstGeom>
          <a:ln w="0">
            <a:noFill/>
          </a:ln>
        </p:spPr>
      </p:pic>
      <p:sp>
        <p:nvSpPr>
          <p:cNvPr id="49" name="Google Shape;96;p14"/>
          <p:cNvSpPr/>
          <p:nvPr/>
        </p:nvSpPr>
        <p:spPr>
          <a:xfrm>
            <a:off x="571680" y="2376360"/>
            <a:ext cx="5350320" cy="3204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2100" spc="-1" strike="noStrike">
                <a:solidFill>
                  <a:srgbClr val="e2e8f0"/>
                </a:solidFill>
                <a:latin typeface="Outfit ExtraBold"/>
                <a:ea typeface="Outfit ExtraBold"/>
              </a:rPr>
              <a:t>Vấn đề hiện tại</a:t>
            </a:r>
            <a:endParaRPr b="0" lang="en-US" sz="2100" spc="-1" strike="noStrike">
              <a:latin typeface="Arial"/>
            </a:endParaRPr>
          </a:p>
        </p:txBody>
      </p:sp>
      <p:sp>
        <p:nvSpPr>
          <p:cNvPr id="50" name="Google Shape;97;p14"/>
          <p:cNvSpPr/>
          <p:nvPr/>
        </p:nvSpPr>
        <p:spPr>
          <a:xfrm>
            <a:off x="571680" y="2824200"/>
            <a:ext cx="5095440" cy="109476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Light"/>
                <a:ea typeface="Outfit Light"/>
              </a:rPr>
              <a:t>Team làm việc với hàng chục PR cùng lúc. Reviewer dễ bỏ sót rủi ro bảo mật, quên chạy test, và mất quá nhiều thời gian để đọc từng dòng .</a:t>
            </a:r>
            <a:endParaRPr b="0" lang="en-US" sz="1500" spc="-1" strike="noStrike">
              <a:latin typeface="Arial"/>
            </a:endParaRPr>
          </a:p>
        </p:txBody>
      </p:sp>
      <p:sp>
        <p:nvSpPr>
          <p:cNvPr id="51" name="Google Shape;98;p14"/>
          <p:cNvSpPr/>
          <p:nvPr/>
        </p:nvSpPr>
        <p:spPr>
          <a:xfrm>
            <a:off x="571680" y="4024440"/>
            <a:ext cx="5350320" cy="3204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2100" spc="-1" strike="noStrike">
                <a:solidFill>
                  <a:srgbClr val="e2e8f0"/>
                </a:solidFill>
                <a:latin typeface="Outfit ExtraBold"/>
                <a:ea typeface="Outfit ExtraBold"/>
              </a:rPr>
              <a:t>Giải pháp tự động hóa</a:t>
            </a:r>
            <a:endParaRPr b="0" lang="en-US" sz="2100" spc="-1" strike="noStrike">
              <a:latin typeface="Arial"/>
            </a:endParaRPr>
          </a:p>
        </p:txBody>
      </p:sp>
      <p:sp>
        <p:nvSpPr>
          <p:cNvPr id="52" name="Google Shape;99;p14"/>
          <p:cNvSpPr/>
          <p:nvPr/>
        </p:nvSpPr>
        <p:spPr>
          <a:xfrm>
            <a:off x="571680" y="4471920"/>
            <a:ext cx="5095440" cy="109476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Light"/>
                <a:ea typeface="Outfit Light"/>
              </a:rPr>
              <a:t>Hệ thống chia nhỏ quy trình review cho các AI Agent. Tự động đọc code, đánh giá rủi ro, và đẩy thông báo tóm tắt thẳng về đúng Channel chat của team.</a:t>
            </a:r>
            <a:endParaRPr b="0" lang="en-US" sz="1500" spc="-1" strike="noStrike">
              <a:latin typeface="Arial"/>
            </a:endParaRPr>
          </a:p>
        </p:txBody>
      </p:sp>
      <p:pic>
        <p:nvPicPr>
          <p:cNvPr id="53" name="Google Shape;100;p14" descr="image.png"/>
          <p:cNvPicPr/>
          <p:nvPr/>
        </p:nvPicPr>
        <p:blipFill>
          <a:blip r:embed="rId3"/>
          <a:stretch/>
        </p:blipFill>
        <p:spPr>
          <a:xfrm>
            <a:off x="1852920" y="3462480"/>
            <a:ext cx="990360" cy="2566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1214"/>
        </a:solidFill>
      </p:bgPr>
    </p:bg>
    <p:spTree>
      <p:nvGrpSpPr>
        <p:cNvPr id="1" name=""/>
        <p:cNvGrpSpPr/>
        <p:nvPr/>
      </p:nvGrpSpPr>
      <p:grpSpPr>
        <a:xfrm>
          <a:off x="0" y="0"/>
          <a:ext cx="0" cy="0"/>
          <a:chOff x="0" y="0"/>
          <a:chExt cx="0" cy="0"/>
        </a:xfrm>
      </p:grpSpPr>
      <p:pic>
        <p:nvPicPr>
          <p:cNvPr id="54" name="Google Shape;105;p15" descr="image.png"/>
          <p:cNvPicPr/>
          <p:nvPr/>
        </p:nvPicPr>
        <p:blipFill>
          <a:blip r:embed="rId1"/>
          <a:stretch/>
        </p:blipFill>
        <p:spPr>
          <a:xfrm>
            <a:off x="0" y="0"/>
            <a:ext cx="12191760" cy="6857640"/>
          </a:xfrm>
          <a:prstGeom prst="rect">
            <a:avLst/>
          </a:prstGeom>
          <a:ln w="0">
            <a:noFill/>
          </a:ln>
        </p:spPr>
      </p:pic>
      <p:pic>
        <p:nvPicPr>
          <p:cNvPr id="55" name="Google Shape;106;p15" descr="image.png"/>
          <p:cNvPicPr/>
          <p:nvPr/>
        </p:nvPicPr>
        <p:blipFill>
          <a:blip r:embed="rId2"/>
          <a:stretch/>
        </p:blipFill>
        <p:spPr>
          <a:xfrm>
            <a:off x="571680" y="2371680"/>
            <a:ext cx="3492360" cy="3018960"/>
          </a:xfrm>
          <a:prstGeom prst="rect">
            <a:avLst/>
          </a:prstGeom>
          <a:ln w="0">
            <a:noFill/>
          </a:ln>
        </p:spPr>
      </p:pic>
      <p:pic>
        <p:nvPicPr>
          <p:cNvPr id="56" name="Google Shape;107;p15" descr="image.png"/>
          <p:cNvPicPr/>
          <p:nvPr/>
        </p:nvPicPr>
        <p:blipFill>
          <a:blip r:embed="rId3"/>
          <a:stretch/>
        </p:blipFill>
        <p:spPr>
          <a:xfrm>
            <a:off x="4349880" y="2371680"/>
            <a:ext cx="3492360" cy="3018960"/>
          </a:xfrm>
          <a:prstGeom prst="rect">
            <a:avLst/>
          </a:prstGeom>
          <a:ln w="0">
            <a:noFill/>
          </a:ln>
        </p:spPr>
      </p:pic>
      <p:pic>
        <p:nvPicPr>
          <p:cNvPr id="57" name="Google Shape;108;p15" descr="image.png"/>
          <p:cNvPicPr/>
          <p:nvPr/>
        </p:nvPicPr>
        <p:blipFill>
          <a:blip r:embed="rId4"/>
          <a:stretch/>
        </p:blipFill>
        <p:spPr>
          <a:xfrm>
            <a:off x="8128080" y="2371680"/>
            <a:ext cx="3492360" cy="3018960"/>
          </a:xfrm>
          <a:prstGeom prst="rect">
            <a:avLst/>
          </a:prstGeom>
          <a:ln w="0">
            <a:noFill/>
          </a:ln>
        </p:spPr>
      </p:pic>
      <p:sp>
        <p:nvSpPr>
          <p:cNvPr id="58" name="Google Shape;109;p15"/>
          <p:cNvSpPr/>
          <p:nvPr/>
        </p:nvSpPr>
        <p:spPr>
          <a:xfrm>
            <a:off x="866880" y="3381480"/>
            <a:ext cx="3046680" cy="3204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2100" spc="-1" strike="noStrike">
                <a:solidFill>
                  <a:srgbClr val="e2e8f0"/>
                </a:solidFill>
                <a:latin typeface="Outfit ExtraBold"/>
                <a:ea typeface="Outfit ExtraBold"/>
              </a:rPr>
              <a:t>1. Trigger</a:t>
            </a:r>
            <a:endParaRPr b="0" lang="en-US" sz="2100" spc="-1" strike="noStrike">
              <a:latin typeface="Arial"/>
            </a:endParaRPr>
          </a:p>
        </p:txBody>
      </p:sp>
      <p:sp>
        <p:nvSpPr>
          <p:cNvPr id="59" name="Google Shape;110;p15"/>
          <p:cNvSpPr/>
          <p:nvPr/>
        </p:nvSpPr>
        <p:spPr>
          <a:xfrm>
            <a:off x="866880" y="3828960"/>
            <a:ext cx="2901600" cy="145980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Light"/>
                <a:ea typeface="Outfit Light"/>
              </a:rPr>
              <a:t>Nhận Webhook từ GitHub khi có PR mới hoặc update. Thu thập , metadata, files thay đổi.</a:t>
            </a:r>
            <a:endParaRPr b="0" lang="en-US" sz="1500" spc="-1" strike="noStrike">
              <a:latin typeface="Arial"/>
            </a:endParaRPr>
          </a:p>
        </p:txBody>
      </p:sp>
      <p:sp>
        <p:nvSpPr>
          <p:cNvPr id="60" name="Google Shape;111;p15"/>
          <p:cNvSpPr/>
          <p:nvPr/>
        </p:nvSpPr>
        <p:spPr>
          <a:xfrm>
            <a:off x="4645080" y="3381480"/>
            <a:ext cx="3046680" cy="3204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2100" spc="-1" strike="noStrike">
                <a:solidFill>
                  <a:srgbClr val="e2e8f0"/>
                </a:solidFill>
                <a:latin typeface="Outfit ExtraBold"/>
                <a:ea typeface="Outfit ExtraBold"/>
              </a:rPr>
              <a:t>2. Multi-Agent</a:t>
            </a:r>
            <a:endParaRPr b="0" lang="en-US" sz="2100" spc="-1" strike="noStrike">
              <a:latin typeface="Arial"/>
            </a:endParaRPr>
          </a:p>
        </p:txBody>
      </p:sp>
      <p:sp>
        <p:nvSpPr>
          <p:cNvPr id="61" name="Google Shape;112;p15"/>
          <p:cNvSpPr/>
          <p:nvPr/>
        </p:nvSpPr>
        <p:spPr>
          <a:xfrm>
            <a:off x="4645080" y="3828960"/>
            <a:ext cx="2901600" cy="145980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Light"/>
                <a:ea typeface="Outfit Light"/>
              </a:rPr>
              <a:t>Kích hoạt chuỗi 10 Agents xử lý nối tiếp. Mỗi Agent đảm nhận một vai trò độc lập (Security, Logic, Testing).</a:t>
            </a:r>
            <a:endParaRPr b="0" lang="en-US" sz="1500" spc="-1" strike="noStrike">
              <a:latin typeface="Arial"/>
            </a:endParaRPr>
          </a:p>
        </p:txBody>
      </p:sp>
      <p:sp>
        <p:nvSpPr>
          <p:cNvPr id="62" name="Google Shape;113;p15"/>
          <p:cNvSpPr/>
          <p:nvPr/>
        </p:nvSpPr>
        <p:spPr>
          <a:xfrm>
            <a:off x="8423280" y="3381480"/>
            <a:ext cx="3046680" cy="3204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2100" spc="-1" strike="noStrike">
                <a:solidFill>
                  <a:srgbClr val="e2e8f0"/>
                </a:solidFill>
                <a:latin typeface="Outfit ExtraBold"/>
                <a:ea typeface="Outfit ExtraBold"/>
              </a:rPr>
              <a:t>3. Notify</a:t>
            </a:r>
            <a:endParaRPr b="0" lang="en-US" sz="2100" spc="-1" strike="noStrike">
              <a:latin typeface="Arial"/>
            </a:endParaRPr>
          </a:p>
        </p:txBody>
      </p:sp>
      <p:sp>
        <p:nvSpPr>
          <p:cNvPr id="63" name="Google Shape;114;p15"/>
          <p:cNvSpPr/>
          <p:nvPr/>
        </p:nvSpPr>
        <p:spPr>
          <a:xfrm>
            <a:off x="8423280" y="3828960"/>
            <a:ext cx="2901600" cy="145980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Light"/>
                <a:ea typeface="Outfit Light"/>
              </a:rPr>
              <a:t>Tổng hợp kết quả thành bản Brief chuẩn và bắn thông báo Real-time ra GitHub, Slack, hoặc Discord.</a:t>
            </a:r>
            <a:endParaRPr b="0" lang="en-US" sz="1500" spc="-1" strike="noStrike">
              <a:latin typeface="Arial"/>
            </a:endParaRPr>
          </a:p>
        </p:txBody>
      </p:sp>
      <p:pic>
        <p:nvPicPr>
          <p:cNvPr id="64" name="Google Shape;115;p15" descr="image.png"/>
          <p:cNvPicPr/>
          <p:nvPr/>
        </p:nvPicPr>
        <p:blipFill>
          <a:blip r:embed="rId5"/>
          <a:stretch/>
        </p:blipFill>
        <p:spPr>
          <a:xfrm>
            <a:off x="866880" y="2762280"/>
            <a:ext cx="371160" cy="380520"/>
          </a:xfrm>
          <a:prstGeom prst="rect">
            <a:avLst/>
          </a:prstGeom>
          <a:ln w="0">
            <a:noFill/>
          </a:ln>
        </p:spPr>
      </p:pic>
      <p:pic>
        <p:nvPicPr>
          <p:cNvPr id="65" name="Google Shape;116;p15" descr="image.png"/>
          <p:cNvPicPr/>
          <p:nvPr/>
        </p:nvPicPr>
        <p:blipFill>
          <a:blip r:embed="rId6"/>
          <a:stretch/>
        </p:blipFill>
        <p:spPr>
          <a:xfrm>
            <a:off x="866880" y="4467240"/>
            <a:ext cx="571320" cy="256680"/>
          </a:xfrm>
          <a:prstGeom prst="rect">
            <a:avLst/>
          </a:prstGeom>
          <a:ln w="0">
            <a:noFill/>
          </a:ln>
        </p:spPr>
      </p:pic>
      <p:pic>
        <p:nvPicPr>
          <p:cNvPr id="66" name="Google Shape;117;p15" descr="image.png"/>
          <p:cNvPicPr/>
          <p:nvPr/>
        </p:nvPicPr>
        <p:blipFill>
          <a:blip r:embed="rId7"/>
          <a:stretch/>
        </p:blipFill>
        <p:spPr>
          <a:xfrm>
            <a:off x="4645080" y="2762280"/>
            <a:ext cx="380520" cy="380520"/>
          </a:xfrm>
          <a:prstGeom prst="rect">
            <a:avLst/>
          </a:prstGeom>
          <a:ln w="0">
            <a:noFill/>
          </a:ln>
        </p:spPr>
      </p:pic>
      <p:pic>
        <p:nvPicPr>
          <p:cNvPr id="67" name="Google Shape;118;p15" descr="image.png"/>
          <p:cNvPicPr/>
          <p:nvPr/>
        </p:nvPicPr>
        <p:blipFill>
          <a:blip r:embed="rId8"/>
          <a:stretch/>
        </p:blipFill>
        <p:spPr>
          <a:xfrm>
            <a:off x="8423280" y="2762280"/>
            <a:ext cx="333000" cy="380520"/>
          </a:xfrm>
          <a:prstGeom prst="rect">
            <a:avLst/>
          </a:prstGeom>
          <a:ln w="0">
            <a:noFill/>
          </a:ln>
        </p:spPr>
      </p:pic>
      <p:sp>
        <p:nvSpPr>
          <p:cNvPr id="68" name="Google Shape;119;p15"/>
          <p:cNvSpPr/>
          <p:nvPr/>
        </p:nvSpPr>
        <p:spPr>
          <a:xfrm>
            <a:off x="762120" y="476280"/>
            <a:ext cx="11401200" cy="50292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3300" spc="-1" strike="noStrike">
                <a:solidFill>
                  <a:srgbClr val="f8fafc"/>
                </a:solidFill>
                <a:latin typeface="Outfit ExtraBold"/>
                <a:ea typeface="Outfit ExtraBold"/>
              </a:rPr>
              <a:t>Luồng Hoạt Động Cốt Lõi</a:t>
            </a:r>
            <a:endParaRPr b="0" lang="en-US" sz="3300" spc="-1" strike="noStrike">
              <a:latin typeface="Arial"/>
            </a:endParaRPr>
          </a:p>
        </p:txBody>
      </p:sp>
      <p:sp>
        <p:nvSpPr>
          <p:cNvPr id="69" name="Google Shape;120;p15"/>
          <p:cNvSpPr/>
          <p:nvPr/>
        </p:nvSpPr>
        <p:spPr>
          <a:xfrm>
            <a:off x="571680" y="476280"/>
            <a:ext cx="56880" cy="523440"/>
          </a:xfrm>
          <a:prstGeom prst="rect">
            <a:avLst/>
          </a:prstGeom>
          <a:solidFill>
            <a:srgbClr val="6366f1"/>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1214"/>
        </a:solidFill>
      </p:bgPr>
    </p:bg>
    <p:spTree>
      <p:nvGrpSpPr>
        <p:cNvPr id="1" name=""/>
        <p:cNvGrpSpPr/>
        <p:nvPr/>
      </p:nvGrpSpPr>
      <p:grpSpPr>
        <a:xfrm>
          <a:off x="0" y="0"/>
          <a:ext cx="0" cy="0"/>
          <a:chOff x="0" y="0"/>
          <a:chExt cx="0" cy="0"/>
        </a:xfrm>
      </p:grpSpPr>
      <p:pic>
        <p:nvPicPr>
          <p:cNvPr id="70" name="Google Shape;125;p16" descr="image.png"/>
          <p:cNvPicPr/>
          <p:nvPr/>
        </p:nvPicPr>
        <p:blipFill>
          <a:blip r:embed="rId1"/>
          <a:stretch/>
        </p:blipFill>
        <p:spPr>
          <a:xfrm>
            <a:off x="0" y="0"/>
            <a:ext cx="12191760" cy="6857640"/>
          </a:xfrm>
          <a:prstGeom prst="rect">
            <a:avLst/>
          </a:prstGeom>
          <a:ln w="0">
            <a:noFill/>
          </a:ln>
        </p:spPr>
      </p:pic>
      <p:pic>
        <p:nvPicPr>
          <p:cNvPr id="71" name="Google Shape;126;p16" descr="image.png"/>
          <p:cNvPicPr/>
          <p:nvPr/>
        </p:nvPicPr>
        <p:blipFill>
          <a:blip r:embed="rId2"/>
          <a:stretch/>
        </p:blipFill>
        <p:spPr>
          <a:xfrm>
            <a:off x="571680" y="2176560"/>
            <a:ext cx="5333760" cy="3409560"/>
          </a:xfrm>
          <a:prstGeom prst="rect">
            <a:avLst/>
          </a:prstGeom>
          <a:ln w="0">
            <a:noFill/>
          </a:ln>
        </p:spPr>
      </p:pic>
      <p:pic>
        <p:nvPicPr>
          <p:cNvPr id="72" name="Google Shape;127;p16" descr="image.png"/>
          <p:cNvPicPr/>
          <p:nvPr/>
        </p:nvPicPr>
        <p:blipFill>
          <a:blip r:embed="rId3"/>
          <a:stretch/>
        </p:blipFill>
        <p:spPr>
          <a:xfrm>
            <a:off x="6286680" y="2176560"/>
            <a:ext cx="5333760" cy="3409560"/>
          </a:xfrm>
          <a:prstGeom prst="rect">
            <a:avLst/>
          </a:prstGeom>
          <a:ln w="0">
            <a:noFill/>
          </a:ln>
        </p:spPr>
      </p:pic>
      <p:sp>
        <p:nvSpPr>
          <p:cNvPr id="73" name="Google Shape;128;p16"/>
          <p:cNvSpPr/>
          <p:nvPr/>
        </p:nvSpPr>
        <p:spPr>
          <a:xfrm>
            <a:off x="1366920" y="2577960"/>
            <a:ext cx="4355280" cy="32076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en-US" sz="2100" spc="-1" strike="noStrike">
                <a:solidFill>
                  <a:srgbClr val="e2e8f0"/>
                </a:solidFill>
                <a:latin typeface="Outfit ExtraBold"/>
                <a:ea typeface="Outfit ExtraBold"/>
              </a:rPr>
              <a:t>Planner Agent</a:t>
            </a:r>
            <a:endParaRPr b="0" lang="en-US" sz="2100" spc="-1" strike="noStrike">
              <a:latin typeface="Arial"/>
            </a:endParaRPr>
          </a:p>
        </p:txBody>
      </p:sp>
      <p:sp>
        <p:nvSpPr>
          <p:cNvPr id="74" name="Google Shape;129;p16"/>
          <p:cNvSpPr/>
          <p:nvPr/>
        </p:nvSpPr>
        <p:spPr>
          <a:xfrm>
            <a:off x="961920" y="3090960"/>
            <a:ext cx="4552560" cy="9000"/>
          </a:xfrm>
          <a:prstGeom prst="rect">
            <a:avLst/>
          </a:prstGeom>
          <a:solidFill>
            <a:srgbClr val="ffffff"/>
          </a:solidFill>
          <a:ln w="0">
            <a:noFill/>
          </a:ln>
        </p:spPr>
        <p:style>
          <a:lnRef idx="0"/>
          <a:fillRef idx="0"/>
          <a:effectRef idx="0"/>
          <a:fontRef idx="minor"/>
        </p:style>
      </p:sp>
      <p:sp>
        <p:nvSpPr>
          <p:cNvPr id="75" name="Google Shape;130;p16"/>
          <p:cNvSpPr/>
          <p:nvPr/>
        </p:nvSpPr>
        <p:spPr>
          <a:xfrm>
            <a:off x="7053120" y="2577960"/>
            <a:ext cx="4385160" cy="32076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en-US" sz="2100" spc="-1" strike="noStrike">
                <a:solidFill>
                  <a:srgbClr val="e2e8f0"/>
                </a:solidFill>
                <a:latin typeface="Outfit ExtraBold"/>
                <a:ea typeface="Outfit ExtraBold"/>
              </a:rPr>
              <a:t>Context Agent</a:t>
            </a:r>
            <a:endParaRPr b="0" lang="en-US" sz="2100" spc="-1" strike="noStrike">
              <a:latin typeface="Arial"/>
            </a:endParaRPr>
          </a:p>
        </p:txBody>
      </p:sp>
      <p:sp>
        <p:nvSpPr>
          <p:cNvPr id="76" name="Google Shape;131;p16"/>
          <p:cNvSpPr/>
          <p:nvPr/>
        </p:nvSpPr>
        <p:spPr>
          <a:xfrm>
            <a:off x="6676920" y="3090960"/>
            <a:ext cx="4552560" cy="9000"/>
          </a:xfrm>
          <a:prstGeom prst="rect">
            <a:avLst/>
          </a:prstGeom>
          <a:solidFill>
            <a:srgbClr val="ffffff"/>
          </a:solidFill>
          <a:ln w="0">
            <a:noFill/>
          </a:ln>
        </p:spPr>
        <p:style>
          <a:lnRef idx="0"/>
          <a:fillRef idx="0"/>
          <a:effectRef idx="0"/>
          <a:fontRef idx="minor"/>
        </p:style>
      </p:sp>
      <p:pic>
        <p:nvPicPr>
          <p:cNvPr id="77" name="Google Shape;132;p16" descr="image.png"/>
          <p:cNvPicPr/>
          <p:nvPr/>
        </p:nvPicPr>
        <p:blipFill>
          <a:blip r:embed="rId4"/>
          <a:stretch/>
        </p:blipFill>
        <p:spPr>
          <a:xfrm>
            <a:off x="961920" y="2600280"/>
            <a:ext cx="261720" cy="266400"/>
          </a:xfrm>
          <a:prstGeom prst="rect">
            <a:avLst/>
          </a:prstGeom>
          <a:ln w="0">
            <a:noFill/>
          </a:ln>
        </p:spPr>
      </p:pic>
      <p:sp>
        <p:nvSpPr>
          <p:cNvPr id="78" name="Google Shape;133;p16"/>
          <p:cNvSpPr/>
          <p:nvPr/>
        </p:nvSpPr>
        <p:spPr>
          <a:xfrm>
            <a:off x="1467000" y="3290760"/>
            <a:ext cx="4047840" cy="72972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a:ea typeface="Outfit"/>
              </a:rPr>
              <a:t>Xác định loại PR:</a:t>
            </a:r>
            <a:r>
              <a:rPr b="0" lang="en-US" sz="1500" spc="-1" strike="noStrike">
                <a:solidFill>
                  <a:srgbClr val="94a3b8"/>
                </a:solidFill>
                <a:latin typeface="Outfit Light"/>
                <a:ea typeface="Outfit Light"/>
              </a:rPr>
              <a:t> Phân loại thành feature, bugfix, config, security...</a:t>
            </a:r>
            <a:endParaRPr b="0" lang="en-US" sz="1500" spc="-1" strike="noStrike">
              <a:latin typeface="Arial"/>
            </a:endParaRPr>
          </a:p>
        </p:txBody>
      </p:sp>
      <p:sp>
        <p:nvSpPr>
          <p:cNvPr id="79" name="Google Shape;134;p16"/>
          <p:cNvSpPr/>
          <p:nvPr/>
        </p:nvSpPr>
        <p:spPr>
          <a:xfrm>
            <a:off x="1467000" y="4091040"/>
            <a:ext cx="4047840" cy="109476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a:ea typeface="Outfit"/>
              </a:rPr>
              <a:t>Chọn chiến lược:</a:t>
            </a:r>
            <a:r>
              <a:rPr b="0" lang="en-US" sz="1500" spc="-1" strike="noStrike">
                <a:solidFill>
                  <a:srgbClr val="94a3b8"/>
                </a:solidFill>
                <a:latin typeface="Outfit Light"/>
                <a:ea typeface="Outfit Light"/>
              </a:rPr>
              <a:t> Tối ưu chi phí bằng cách quyết định review nhẹ (shallow) hay sâu (deep).</a:t>
            </a:r>
            <a:endParaRPr b="0" lang="en-US" sz="1500" spc="-1" strike="noStrike">
              <a:latin typeface="Arial"/>
            </a:endParaRPr>
          </a:p>
        </p:txBody>
      </p:sp>
      <p:pic>
        <p:nvPicPr>
          <p:cNvPr id="80" name="Google Shape;135;p16" descr="image.png"/>
          <p:cNvPicPr/>
          <p:nvPr/>
        </p:nvPicPr>
        <p:blipFill>
          <a:blip r:embed="rId5"/>
          <a:stretch/>
        </p:blipFill>
        <p:spPr>
          <a:xfrm>
            <a:off x="6676920" y="2600280"/>
            <a:ext cx="232920" cy="266400"/>
          </a:xfrm>
          <a:prstGeom prst="rect">
            <a:avLst/>
          </a:prstGeom>
          <a:ln w="0">
            <a:noFill/>
          </a:ln>
        </p:spPr>
      </p:pic>
      <p:sp>
        <p:nvSpPr>
          <p:cNvPr id="81" name="Google Shape;136;p16"/>
          <p:cNvSpPr/>
          <p:nvPr/>
        </p:nvSpPr>
        <p:spPr>
          <a:xfrm>
            <a:off x="7182000" y="3290760"/>
            <a:ext cx="4047840" cy="72972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a:ea typeface="Outfit"/>
              </a:rPr>
              <a:t>Tìm dữ liệu thiếu:</a:t>
            </a:r>
            <a:r>
              <a:rPr b="0" lang="en-US" sz="1500" spc="-1" strike="noStrike">
                <a:solidFill>
                  <a:srgbClr val="94a3b8"/>
                </a:solidFill>
                <a:latin typeface="Outfit Light"/>
                <a:ea typeface="Outfit Light"/>
              </a:rPr>
              <a:t> Chỉ ra PR cần thêm file nào để hiểu rõ logic.</a:t>
            </a:r>
            <a:endParaRPr b="0" lang="en-US" sz="1500" spc="-1" strike="noStrike">
              <a:latin typeface="Arial"/>
            </a:endParaRPr>
          </a:p>
        </p:txBody>
      </p:sp>
      <p:sp>
        <p:nvSpPr>
          <p:cNvPr id="82" name="Google Shape;137;p16"/>
          <p:cNvSpPr/>
          <p:nvPr/>
        </p:nvSpPr>
        <p:spPr>
          <a:xfrm>
            <a:off x="7182000" y="4091040"/>
            <a:ext cx="4047840" cy="72972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a:ea typeface="Outfit"/>
              </a:rPr>
              <a:t>Lịch sử Repo:</a:t>
            </a:r>
            <a:r>
              <a:rPr b="0" lang="en-US" sz="1500" spc="-1" strike="noStrike">
                <a:solidFill>
                  <a:srgbClr val="94a3b8"/>
                </a:solidFill>
                <a:latin typeface="Outfit Light"/>
                <a:ea typeface="Outfit Light"/>
              </a:rPr>
              <a:t> Quét các path nhạy cảm từng gây lỗi trong hệ thống để cảnh báo.</a:t>
            </a:r>
            <a:endParaRPr b="0" lang="en-US" sz="1500" spc="-1" strike="noStrike">
              <a:latin typeface="Arial"/>
            </a:endParaRPr>
          </a:p>
        </p:txBody>
      </p:sp>
      <p:pic>
        <p:nvPicPr>
          <p:cNvPr id="83" name="Google Shape;138;p16" descr="image.png"/>
          <p:cNvPicPr/>
          <p:nvPr/>
        </p:nvPicPr>
        <p:blipFill>
          <a:blip r:embed="rId6"/>
          <a:stretch/>
        </p:blipFill>
        <p:spPr>
          <a:xfrm>
            <a:off x="961920" y="3343320"/>
            <a:ext cx="171000" cy="199800"/>
          </a:xfrm>
          <a:prstGeom prst="rect">
            <a:avLst/>
          </a:prstGeom>
          <a:ln w="0">
            <a:noFill/>
          </a:ln>
        </p:spPr>
      </p:pic>
      <p:pic>
        <p:nvPicPr>
          <p:cNvPr id="84" name="Google Shape;139;p16" descr="image.png"/>
          <p:cNvPicPr/>
          <p:nvPr/>
        </p:nvPicPr>
        <p:blipFill>
          <a:blip r:embed="rId7"/>
          <a:stretch/>
        </p:blipFill>
        <p:spPr>
          <a:xfrm>
            <a:off x="961920" y="4143240"/>
            <a:ext cx="171000" cy="199800"/>
          </a:xfrm>
          <a:prstGeom prst="rect">
            <a:avLst/>
          </a:prstGeom>
          <a:ln w="0">
            <a:noFill/>
          </a:ln>
        </p:spPr>
      </p:pic>
      <p:pic>
        <p:nvPicPr>
          <p:cNvPr id="85" name="Google Shape;140;p16" descr="image.png"/>
          <p:cNvPicPr/>
          <p:nvPr/>
        </p:nvPicPr>
        <p:blipFill>
          <a:blip r:embed="rId8"/>
          <a:stretch/>
        </p:blipFill>
        <p:spPr>
          <a:xfrm>
            <a:off x="6676920" y="3343320"/>
            <a:ext cx="171000" cy="199800"/>
          </a:xfrm>
          <a:prstGeom prst="rect">
            <a:avLst/>
          </a:prstGeom>
          <a:ln w="0">
            <a:noFill/>
          </a:ln>
        </p:spPr>
      </p:pic>
      <p:pic>
        <p:nvPicPr>
          <p:cNvPr id="86" name="Google Shape;141;p16" descr="image.png"/>
          <p:cNvPicPr/>
          <p:nvPr/>
        </p:nvPicPr>
        <p:blipFill>
          <a:blip r:embed="rId9"/>
          <a:stretch/>
        </p:blipFill>
        <p:spPr>
          <a:xfrm>
            <a:off x="6676920" y="4143240"/>
            <a:ext cx="171000" cy="199800"/>
          </a:xfrm>
          <a:prstGeom prst="rect">
            <a:avLst/>
          </a:prstGeom>
          <a:ln w="0">
            <a:noFill/>
          </a:ln>
        </p:spPr>
      </p:pic>
      <p:sp>
        <p:nvSpPr>
          <p:cNvPr id="87" name="Google Shape;142;p16"/>
          <p:cNvSpPr/>
          <p:nvPr/>
        </p:nvSpPr>
        <p:spPr>
          <a:xfrm>
            <a:off x="762120" y="476280"/>
            <a:ext cx="11401200" cy="50292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3300" spc="-1" strike="noStrike">
                <a:solidFill>
                  <a:srgbClr val="f8fafc"/>
                </a:solidFill>
                <a:latin typeface="Outfit ExtraBold"/>
                <a:ea typeface="Outfit ExtraBold"/>
              </a:rPr>
              <a:t>Giai đoạn 1: Chuẩn bị &amp; Ngữ cảnh</a:t>
            </a:r>
            <a:endParaRPr b="0" lang="en-US" sz="3300" spc="-1" strike="noStrike">
              <a:latin typeface="Arial"/>
            </a:endParaRPr>
          </a:p>
        </p:txBody>
      </p:sp>
      <p:sp>
        <p:nvSpPr>
          <p:cNvPr id="88" name="Google Shape;143;p16"/>
          <p:cNvSpPr/>
          <p:nvPr/>
        </p:nvSpPr>
        <p:spPr>
          <a:xfrm>
            <a:off x="571680" y="476280"/>
            <a:ext cx="56880" cy="523440"/>
          </a:xfrm>
          <a:prstGeom prst="rect">
            <a:avLst/>
          </a:prstGeom>
          <a:solidFill>
            <a:srgbClr val="6366f1"/>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1214"/>
        </a:solidFill>
      </p:bgPr>
    </p:bg>
    <p:spTree>
      <p:nvGrpSpPr>
        <p:cNvPr id="1" name=""/>
        <p:cNvGrpSpPr/>
        <p:nvPr/>
      </p:nvGrpSpPr>
      <p:grpSpPr>
        <a:xfrm>
          <a:off x="0" y="0"/>
          <a:ext cx="0" cy="0"/>
          <a:chOff x="0" y="0"/>
          <a:chExt cx="0" cy="0"/>
        </a:xfrm>
      </p:grpSpPr>
      <p:pic>
        <p:nvPicPr>
          <p:cNvPr id="89" name="Google Shape;148;p17" descr="image.png"/>
          <p:cNvPicPr/>
          <p:nvPr/>
        </p:nvPicPr>
        <p:blipFill>
          <a:blip r:embed="rId1"/>
          <a:stretch/>
        </p:blipFill>
        <p:spPr>
          <a:xfrm>
            <a:off x="0" y="0"/>
            <a:ext cx="12191760" cy="6857640"/>
          </a:xfrm>
          <a:prstGeom prst="rect">
            <a:avLst/>
          </a:prstGeom>
          <a:ln w="0">
            <a:noFill/>
          </a:ln>
        </p:spPr>
      </p:pic>
      <p:pic>
        <p:nvPicPr>
          <p:cNvPr id="90" name="Google Shape;149;p17" descr="image.png"/>
          <p:cNvPicPr/>
          <p:nvPr/>
        </p:nvPicPr>
        <p:blipFill>
          <a:blip r:embed="rId2"/>
          <a:stretch/>
        </p:blipFill>
        <p:spPr>
          <a:xfrm>
            <a:off x="571680" y="2371680"/>
            <a:ext cx="3492360" cy="3018960"/>
          </a:xfrm>
          <a:prstGeom prst="rect">
            <a:avLst/>
          </a:prstGeom>
          <a:ln w="0">
            <a:noFill/>
          </a:ln>
        </p:spPr>
      </p:pic>
      <p:pic>
        <p:nvPicPr>
          <p:cNvPr id="91" name="Google Shape;150;p17" descr="image.png"/>
          <p:cNvPicPr/>
          <p:nvPr/>
        </p:nvPicPr>
        <p:blipFill>
          <a:blip r:embed="rId3"/>
          <a:stretch/>
        </p:blipFill>
        <p:spPr>
          <a:xfrm>
            <a:off x="4349880" y="2371680"/>
            <a:ext cx="3492360" cy="3018960"/>
          </a:xfrm>
          <a:prstGeom prst="rect">
            <a:avLst/>
          </a:prstGeom>
          <a:ln w="0">
            <a:noFill/>
          </a:ln>
        </p:spPr>
      </p:pic>
      <p:pic>
        <p:nvPicPr>
          <p:cNvPr id="92" name="Google Shape;151;p17" descr="image.png"/>
          <p:cNvPicPr/>
          <p:nvPr/>
        </p:nvPicPr>
        <p:blipFill>
          <a:blip r:embed="rId4"/>
          <a:stretch/>
        </p:blipFill>
        <p:spPr>
          <a:xfrm>
            <a:off x="8128080" y="2371680"/>
            <a:ext cx="3492360" cy="3018960"/>
          </a:xfrm>
          <a:prstGeom prst="rect">
            <a:avLst/>
          </a:prstGeom>
          <a:ln w="0">
            <a:noFill/>
          </a:ln>
        </p:spPr>
      </p:pic>
      <p:sp>
        <p:nvSpPr>
          <p:cNvPr id="93" name="Google Shape;152;p17"/>
          <p:cNvSpPr/>
          <p:nvPr/>
        </p:nvSpPr>
        <p:spPr>
          <a:xfrm>
            <a:off x="866880" y="3381480"/>
            <a:ext cx="3046680" cy="3204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2100" spc="-1" strike="noStrike">
                <a:solidFill>
                  <a:srgbClr val="e2e8f0"/>
                </a:solidFill>
                <a:latin typeface="Outfit ExtraBold"/>
                <a:ea typeface="Outfit ExtraBold"/>
              </a:rPr>
              <a:t>Security Agent</a:t>
            </a:r>
            <a:endParaRPr b="0" lang="en-US" sz="2100" spc="-1" strike="noStrike">
              <a:latin typeface="Arial"/>
            </a:endParaRPr>
          </a:p>
        </p:txBody>
      </p:sp>
      <p:sp>
        <p:nvSpPr>
          <p:cNvPr id="94" name="Google Shape;153;p17"/>
          <p:cNvSpPr/>
          <p:nvPr/>
        </p:nvSpPr>
        <p:spPr>
          <a:xfrm>
            <a:off x="866880" y="3828960"/>
            <a:ext cx="2901600" cy="145980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Light"/>
                <a:ea typeface="Outfit Light"/>
              </a:rPr>
              <a:t>Truy quét auth bypass, secret keys. </a:t>
            </a:r>
            <a:r>
              <a:rPr b="0" lang="en-US" sz="1500" spc="-1" strike="noStrike">
                <a:solidFill>
                  <a:srgbClr val="94a3b8"/>
                </a:solidFill>
                <a:latin typeface="Outfit"/>
                <a:ea typeface="Outfit"/>
              </a:rPr>
              <a:t>Che giấu (mask) dữ liệu nhạy cảm</a:t>
            </a:r>
            <a:r>
              <a:rPr b="0" lang="en-US" sz="1500" spc="-1" strike="noStrike">
                <a:solidFill>
                  <a:srgbClr val="94a3b8"/>
                </a:solidFill>
                <a:latin typeface="Outfit Light"/>
                <a:ea typeface="Outfit Light"/>
              </a:rPr>
              <a:t> trước khi đẩy cho các Agent khác phân tích.</a:t>
            </a:r>
            <a:endParaRPr b="0" lang="en-US" sz="1500" spc="-1" strike="noStrike">
              <a:latin typeface="Arial"/>
            </a:endParaRPr>
          </a:p>
        </p:txBody>
      </p:sp>
      <p:sp>
        <p:nvSpPr>
          <p:cNvPr id="95" name="Google Shape;154;p17"/>
          <p:cNvSpPr/>
          <p:nvPr/>
        </p:nvSpPr>
        <p:spPr>
          <a:xfrm>
            <a:off x="4645080" y="3381480"/>
            <a:ext cx="3046680" cy="3204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2100" spc="-1" strike="noStrike">
                <a:solidFill>
                  <a:srgbClr val="e2e8f0"/>
                </a:solidFill>
                <a:latin typeface="Outfit ExtraBold"/>
                <a:ea typeface="Outfit ExtraBold"/>
              </a:rPr>
              <a:t>Code Agent</a:t>
            </a:r>
            <a:endParaRPr b="0" lang="en-US" sz="2100" spc="-1" strike="noStrike">
              <a:latin typeface="Arial"/>
            </a:endParaRPr>
          </a:p>
        </p:txBody>
      </p:sp>
      <p:sp>
        <p:nvSpPr>
          <p:cNvPr id="96" name="Google Shape;155;p17"/>
          <p:cNvSpPr/>
          <p:nvPr/>
        </p:nvSpPr>
        <p:spPr>
          <a:xfrm>
            <a:off x="4645080" y="3828960"/>
            <a:ext cx="2901600" cy="145980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Light"/>
                <a:ea typeface="Outfit Light"/>
              </a:rPr>
              <a:t>Tóm tắt thay đổi kỹ thuật và intent kinh doanh. Chỉ đích danh file nào Reviewer cần tập trung soi kỹ nhất.</a:t>
            </a:r>
            <a:endParaRPr b="0" lang="en-US" sz="1500" spc="-1" strike="noStrike">
              <a:latin typeface="Arial"/>
            </a:endParaRPr>
          </a:p>
        </p:txBody>
      </p:sp>
      <p:sp>
        <p:nvSpPr>
          <p:cNvPr id="97" name="Google Shape;156;p17"/>
          <p:cNvSpPr/>
          <p:nvPr/>
        </p:nvSpPr>
        <p:spPr>
          <a:xfrm>
            <a:off x="8423280" y="3381480"/>
            <a:ext cx="3046680" cy="3204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2100" spc="-1" strike="noStrike">
                <a:solidFill>
                  <a:srgbClr val="e2e8f0"/>
                </a:solidFill>
                <a:latin typeface="Outfit ExtraBold"/>
                <a:ea typeface="Outfit ExtraBold"/>
              </a:rPr>
              <a:t>Risk Agent</a:t>
            </a:r>
            <a:endParaRPr b="0" lang="en-US" sz="2100" spc="-1" strike="noStrike">
              <a:latin typeface="Arial"/>
            </a:endParaRPr>
          </a:p>
        </p:txBody>
      </p:sp>
      <p:sp>
        <p:nvSpPr>
          <p:cNvPr id="98" name="Google Shape;157;p17"/>
          <p:cNvSpPr/>
          <p:nvPr/>
        </p:nvSpPr>
        <p:spPr>
          <a:xfrm>
            <a:off x="8423280" y="3828960"/>
            <a:ext cx="2901600" cy="145980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Light"/>
                <a:ea typeface="Outfit Light"/>
              </a:rPr>
              <a:t>Đánh giá nguy cơ sập hệ thống (Logic bug, breaking API, performance). Đưa ra </a:t>
            </a:r>
            <a:r>
              <a:rPr b="0" lang="en-US" sz="1500" spc="-1" strike="noStrike">
                <a:solidFill>
                  <a:srgbClr val="818cf8"/>
                </a:solidFill>
                <a:latin typeface="Outfit SemiBold"/>
                <a:ea typeface="Outfit SemiBold"/>
              </a:rPr>
              <a:t>Mức độ rủi ro</a:t>
            </a:r>
            <a:r>
              <a:rPr b="0" lang="en-US" sz="1500" spc="-1" strike="noStrike">
                <a:solidFill>
                  <a:srgbClr val="94a3b8"/>
                </a:solidFill>
                <a:latin typeface="Outfit Light"/>
                <a:ea typeface="Outfit Light"/>
              </a:rPr>
              <a:t> cụ thể.</a:t>
            </a:r>
            <a:endParaRPr b="0" lang="en-US" sz="1500" spc="-1" strike="noStrike">
              <a:latin typeface="Arial"/>
            </a:endParaRPr>
          </a:p>
        </p:txBody>
      </p:sp>
      <p:pic>
        <p:nvPicPr>
          <p:cNvPr id="99" name="Google Shape;158;p17" descr="image.png"/>
          <p:cNvPicPr/>
          <p:nvPr/>
        </p:nvPicPr>
        <p:blipFill>
          <a:blip r:embed="rId5"/>
          <a:stretch/>
        </p:blipFill>
        <p:spPr>
          <a:xfrm>
            <a:off x="866880" y="2762280"/>
            <a:ext cx="380520" cy="380520"/>
          </a:xfrm>
          <a:prstGeom prst="rect">
            <a:avLst/>
          </a:prstGeom>
          <a:ln w="0">
            <a:noFill/>
          </a:ln>
        </p:spPr>
      </p:pic>
      <p:pic>
        <p:nvPicPr>
          <p:cNvPr id="100" name="Google Shape;159;p17" descr="image.png"/>
          <p:cNvPicPr/>
          <p:nvPr/>
        </p:nvPicPr>
        <p:blipFill>
          <a:blip r:embed="rId6"/>
          <a:stretch/>
        </p:blipFill>
        <p:spPr>
          <a:xfrm>
            <a:off x="4645080" y="2762280"/>
            <a:ext cx="475920" cy="380520"/>
          </a:xfrm>
          <a:prstGeom prst="rect">
            <a:avLst/>
          </a:prstGeom>
          <a:ln w="0">
            <a:noFill/>
          </a:ln>
        </p:spPr>
      </p:pic>
      <p:pic>
        <p:nvPicPr>
          <p:cNvPr id="101" name="Google Shape;160;p17" descr="image.png"/>
          <p:cNvPicPr/>
          <p:nvPr/>
        </p:nvPicPr>
        <p:blipFill>
          <a:blip r:embed="rId7"/>
          <a:stretch/>
        </p:blipFill>
        <p:spPr>
          <a:xfrm>
            <a:off x="8423280" y="2762280"/>
            <a:ext cx="380520" cy="380520"/>
          </a:xfrm>
          <a:prstGeom prst="rect">
            <a:avLst/>
          </a:prstGeom>
          <a:ln w="0">
            <a:noFill/>
          </a:ln>
        </p:spPr>
      </p:pic>
      <p:sp>
        <p:nvSpPr>
          <p:cNvPr id="102" name="Google Shape;161;p17"/>
          <p:cNvSpPr/>
          <p:nvPr/>
        </p:nvSpPr>
        <p:spPr>
          <a:xfrm>
            <a:off x="762120" y="476280"/>
            <a:ext cx="11401200" cy="50292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3300" spc="-1" strike="noStrike">
                <a:solidFill>
                  <a:srgbClr val="f8fafc"/>
                </a:solidFill>
                <a:latin typeface="Outfit ExtraBold"/>
                <a:ea typeface="Outfit ExtraBold"/>
              </a:rPr>
              <a:t>Giai đoạn 2: Phân tích chuyên sâu</a:t>
            </a:r>
            <a:endParaRPr b="0" lang="en-US" sz="3300" spc="-1" strike="noStrike">
              <a:latin typeface="Arial"/>
            </a:endParaRPr>
          </a:p>
        </p:txBody>
      </p:sp>
      <p:sp>
        <p:nvSpPr>
          <p:cNvPr id="103" name="Google Shape;162;p17"/>
          <p:cNvSpPr/>
          <p:nvPr/>
        </p:nvSpPr>
        <p:spPr>
          <a:xfrm>
            <a:off x="571680" y="476280"/>
            <a:ext cx="56880" cy="523440"/>
          </a:xfrm>
          <a:prstGeom prst="rect">
            <a:avLst/>
          </a:prstGeom>
          <a:solidFill>
            <a:srgbClr val="6366f1"/>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1214"/>
        </a:solidFill>
      </p:bgPr>
    </p:bg>
    <p:spTree>
      <p:nvGrpSpPr>
        <p:cNvPr id="1" name=""/>
        <p:cNvGrpSpPr/>
        <p:nvPr/>
      </p:nvGrpSpPr>
      <p:grpSpPr>
        <a:xfrm>
          <a:off x="0" y="0"/>
          <a:ext cx="0" cy="0"/>
          <a:chOff x="0" y="0"/>
          <a:chExt cx="0" cy="0"/>
        </a:xfrm>
      </p:grpSpPr>
      <p:pic>
        <p:nvPicPr>
          <p:cNvPr id="104" name="Google Shape;167;p18" descr="image.png"/>
          <p:cNvPicPr/>
          <p:nvPr/>
        </p:nvPicPr>
        <p:blipFill>
          <a:blip r:embed="rId1"/>
          <a:stretch/>
        </p:blipFill>
        <p:spPr>
          <a:xfrm>
            <a:off x="0" y="0"/>
            <a:ext cx="12191760" cy="6857640"/>
          </a:xfrm>
          <a:prstGeom prst="rect">
            <a:avLst/>
          </a:prstGeom>
          <a:ln w="0">
            <a:noFill/>
          </a:ln>
        </p:spPr>
      </p:pic>
      <p:pic>
        <p:nvPicPr>
          <p:cNvPr id="105" name="Google Shape;168;p18" descr="image.png"/>
          <p:cNvPicPr/>
          <p:nvPr/>
        </p:nvPicPr>
        <p:blipFill>
          <a:blip r:embed="rId2"/>
          <a:stretch/>
        </p:blipFill>
        <p:spPr>
          <a:xfrm>
            <a:off x="571680" y="2371680"/>
            <a:ext cx="3492360" cy="3018960"/>
          </a:xfrm>
          <a:prstGeom prst="rect">
            <a:avLst/>
          </a:prstGeom>
          <a:ln w="0">
            <a:noFill/>
          </a:ln>
        </p:spPr>
      </p:pic>
      <p:pic>
        <p:nvPicPr>
          <p:cNvPr id="106" name="Google Shape;169;p18" descr="image.png"/>
          <p:cNvPicPr/>
          <p:nvPr/>
        </p:nvPicPr>
        <p:blipFill>
          <a:blip r:embed="rId3"/>
          <a:stretch/>
        </p:blipFill>
        <p:spPr>
          <a:xfrm>
            <a:off x="4349880" y="2371680"/>
            <a:ext cx="3492360" cy="3018960"/>
          </a:xfrm>
          <a:prstGeom prst="rect">
            <a:avLst/>
          </a:prstGeom>
          <a:ln w="0">
            <a:noFill/>
          </a:ln>
        </p:spPr>
      </p:pic>
      <p:pic>
        <p:nvPicPr>
          <p:cNvPr id="107" name="Google Shape;170;p18" descr="image.png"/>
          <p:cNvPicPr/>
          <p:nvPr/>
        </p:nvPicPr>
        <p:blipFill>
          <a:blip r:embed="rId4"/>
          <a:stretch/>
        </p:blipFill>
        <p:spPr>
          <a:xfrm>
            <a:off x="8128080" y="2371680"/>
            <a:ext cx="3492360" cy="3018960"/>
          </a:xfrm>
          <a:prstGeom prst="rect">
            <a:avLst/>
          </a:prstGeom>
          <a:ln w="0">
            <a:noFill/>
          </a:ln>
        </p:spPr>
      </p:pic>
      <p:sp>
        <p:nvSpPr>
          <p:cNvPr id="108" name="Google Shape;171;p18"/>
          <p:cNvSpPr/>
          <p:nvPr/>
        </p:nvSpPr>
        <p:spPr>
          <a:xfrm>
            <a:off x="866880" y="3381480"/>
            <a:ext cx="3046680" cy="3204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2100" spc="-1" strike="noStrike">
                <a:solidFill>
                  <a:srgbClr val="e2e8f0"/>
                </a:solidFill>
                <a:latin typeface="Outfit ExtraBold"/>
                <a:ea typeface="Outfit ExtraBold"/>
              </a:rPr>
              <a:t>Testing Agent</a:t>
            </a:r>
            <a:endParaRPr b="0" lang="en-US" sz="2100" spc="-1" strike="noStrike">
              <a:latin typeface="Arial"/>
            </a:endParaRPr>
          </a:p>
        </p:txBody>
      </p:sp>
      <p:sp>
        <p:nvSpPr>
          <p:cNvPr id="109" name="Google Shape;172;p18"/>
          <p:cNvSpPr/>
          <p:nvPr/>
        </p:nvSpPr>
        <p:spPr>
          <a:xfrm>
            <a:off x="866880" y="3828960"/>
            <a:ext cx="2901600" cy="145980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Light"/>
                <a:ea typeface="Outfit Light"/>
              </a:rPr>
              <a:t>Biến diff thành Test Plan. Đề xuất team cần chạy Unit test, Integration test hay Manual test ở khu vực nào.</a:t>
            </a:r>
            <a:endParaRPr b="0" lang="en-US" sz="1500" spc="-1" strike="noStrike">
              <a:latin typeface="Arial"/>
            </a:endParaRPr>
          </a:p>
        </p:txBody>
      </p:sp>
      <p:sp>
        <p:nvSpPr>
          <p:cNvPr id="110" name="Google Shape;173;p18"/>
          <p:cNvSpPr/>
          <p:nvPr/>
        </p:nvSpPr>
        <p:spPr>
          <a:xfrm>
            <a:off x="4645080" y="3381480"/>
            <a:ext cx="3046680" cy="3204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2100" spc="-1" strike="noStrike">
                <a:solidFill>
                  <a:srgbClr val="e2e8f0"/>
                </a:solidFill>
                <a:latin typeface="Outfit ExtraBold"/>
                <a:ea typeface="Outfit ExtraBold"/>
              </a:rPr>
              <a:t>Synthesis Agent</a:t>
            </a:r>
            <a:endParaRPr b="0" lang="en-US" sz="2100" spc="-1" strike="noStrike">
              <a:latin typeface="Arial"/>
            </a:endParaRPr>
          </a:p>
        </p:txBody>
      </p:sp>
      <p:sp>
        <p:nvSpPr>
          <p:cNvPr id="111" name="Google Shape;174;p18"/>
          <p:cNvSpPr/>
          <p:nvPr/>
        </p:nvSpPr>
        <p:spPr>
          <a:xfrm>
            <a:off x="4645080" y="3828960"/>
            <a:ext cx="2901600" cy="145980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Light"/>
                <a:ea typeface="Outfit Light"/>
              </a:rPr>
              <a:t>Gom kết quả từ 6 Agent trước thành một </a:t>
            </a:r>
            <a:r>
              <a:rPr b="0" lang="en-US" sz="1500" spc="-1" strike="noStrike">
                <a:solidFill>
                  <a:srgbClr val="34d399"/>
                </a:solidFill>
                <a:latin typeface="Outfit SemiBold"/>
                <a:ea typeface="Outfit SemiBold"/>
              </a:rPr>
              <a:t>Canonical Brief</a:t>
            </a:r>
            <a:r>
              <a:rPr b="0" lang="en-US" sz="1500" spc="-1" strike="noStrike">
                <a:solidFill>
                  <a:srgbClr val="94a3b8"/>
                </a:solidFill>
                <a:latin typeface="Outfit Light"/>
                <a:ea typeface="Outfit Light"/>
              </a:rPr>
              <a:t> (Bản tóm tắt chuẩn mực, ngắn gọn).</a:t>
            </a:r>
            <a:endParaRPr b="0" lang="en-US" sz="1500" spc="-1" strike="noStrike">
              <a:latin typeface="Arial"/>
            </a:endParaRPr>
          </a:p>
        </p:txBody>
      </p:sp>
      <p:sp>
        <p:nvSpPr>
          <p:cNvPr id="112" name="Google Shape;175;p18"/>
          <p:cNvSpPr/>
          <p:nvPr/>
        </p:nvSpPr>
        <p:spPr>
          <a:xfrm>
            <a:off x="8423280" y="3381480"/>
            <a:ext cx="3046680" cy="3204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2100" spc="-1" strike="noStrike">
                <a:solidFill>
                  <a:srgbClr val="e2e8f0"/>
                </a:solidFill>
                <a:latin typeface="Outfit ExtraBold"/>
                <a:ea typeface="Outfit ExtraBold"/>
              </a:rPr>
              <a:t>Critic Agent</a:t>
            </a:r>
            <a:endParaRPr b="0" lang="en-US" sz="2100" spc="-1" strike="noStrike">
              <a:latin typeface="Arial"/>
            </a:endParaRPr>
          </a:p>
        </p:txBody>
      </p:sp>
      <p:sp>
        <p:nvSpPr>
          <p:cNvPr id="113" name="Google Shape;176;p18"/>
          <p:cNvSpPr/>
          <p:nvPr/>
        </p:nvSpPr>
        <p:spPr>
          <a:xfrm>
            <a:off x="8423280" y="3828960"/>
            <a:ext cx="2901600" cy="145980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Light"/>
                <a:ea typeface="Outfit Light"/>
              </a:rPr>
              <a:t>Lớp kiểm tra cuối. Hạ mức "tự tin" của AI nếu thiếu dữ liệu, ngăn chặn tình trạng ảo giác (hallucination).</a:t>
            </a:r>
            <a:endParaRPr b="0" lang="en-US" sz="1500" spc="-1" strike="noStrike">
              <a:latin typeface="Arial"/>
            </a:endParaRPr>
          </a:p>
        </p:txBody>
      </p:sp>
      <p:pic>
        <p:nvPicPr>
          <p:cNvPr id="114" name="Google Shape;177;p18" descr="image.png"/>
          <p:cNvPicPr/>
          <p:nvPr/>
        </p:nvPicPr>
        <p:blipFill>
          <a:blip r:embed="rId5"/>
          <a:stretch/>
        </p:blipFill>
        <p:spPr>
          <a:xfrm>
            <a:off x="866880" y="2762280"/>
            <a:ext cx="380520" cy="380520"/>
          </a:xfrm>
          <a:prstGeom prst="rect">
            <a:avLst/>
          </a:prstGeom>
          <a:ln w="0">
            <a:noFill/>
          </a:ln>
        </p:spPr>
      </p:pic>
      <p:pic>
        <p:nvPicPr>
          <p:cNvPr id="115" name="Google Shape;178;p18" descr="image.png"/>
          <p:cNvPicPr/>
          <p:nvPr/>
        </p:nvPicPr>
        <p:blipFill>
          <a:blip r:embed="rId6"/>
          <a:stretch/>
        </p:blipFill>
        <p:spPr>
          <a:xfrm>
            <a:off x="4645080" y="2762280"/>
            <a:ext cx="428400" cy="380520"/>
          </a:xfrm>
          <a:prstGeom prst="rect">
            <a:avLst/>
          </a:prstGeom>
          <a:ln w="0">
            <a:noFill/>
          </a:ln>
        </p:spPr>
      </p:pic>
      <p:pic>
        <p:nvPicPr>
          <p:cNvPr id="116" name="Google Shape;179;p18" descr="image.png"/>
          <p:cNvPicPr/>
          <p:nvPr/>
        </p:nvPicPr>
        <p:blipFill>
          <a:blip r:embed="rId7"/>
          <a:stretch/>
        </p:blipFill>
        <p:spPr>
          <a:xfrm>
            <a:off x="8423280" y="2762280"/>
            <a:ext cx="475920" cy="380520"/>
          </a:xfrm>
          <a:prstGeom prst="rect">
            <a:avLst/>
          </a:prstGeom>
          <a:ln w="0">
            <a:noFill/>
          </a:ln>
        </p:spPr>
      </p:pic>
      <p:sp>
        <p:nvSpPr>
          <p:cNvPr id="117" name="Google Shape;180;p18"/>
          <p:cNvSpPr/>
          <p:nvPr/>
        </p:nvSpPr>
        <p:spPr>
          <a:xfrm>
            <a:off x="762120" y="476280"/>
            <a:ext cx="11401200" cy="50292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3300" spc="-1" strike="noStrike">
                <a:solidFill>
                  <a:srgbClr val="f8fafc"/>
                </a:solidFill>
                <a:latin typeface="Outfit ExtraBold"/>
                <a:ea typeface="Outfit ExtraBold"/>
              </a:rPr>
              <a:t>Giai đoạn 3: Kiểm duyệt &amp; Tổng hợp</a:t>
            </a:r>
            <a:endParaRPr b="0" lang="en-US" sz="3300" spc="-1" strike="noStrike">
              <a:latin typeface="Arial"/>
            </a:endParaRPr>
          </a:p>
        </p:txBody>
      </p:sp>
      <p:sp>
        <p:nvSpPr>
          <p:cNvPr id="118" name="Google Shape;181;p18"/>
          <p:cNvSpPr/>
          <p:nvPr/>
        </p:nvSpPr>
        <p:spPr>
          <a:xfrm>
            <a:off x="571680" y="476280"/>
            <a:ext cx="56880" cy="523440"/>
          </a:xfrm>
          <a:prstGeom prst="rect">
            <a:avLst/>
          </a:prstGeom>
          <a:solidFill>
            <a:srgbClr val="6366f1"/>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1214"/>
        </a:solidFill>
      </p:bgPr>
    </p:bg>
    <p:spTree>
      <p:nvGrpSpPr>
        <p:cNvPr id="1" name=""/>
        <p:cNvGrpSpPr/>
        <p:nvPr/>
      </p:nvGrpSpPr>
      <p:grpSpPr>
        <a:xfrm>
          <a:off x="0" y="0"/>
          <a:ext cx="0" cy="0"/>
          <a:chOff x="0" y="0"/>
          <a:chExt cx="0" cy="0"/>
        </a:xfrm>
      </p:grpSpPr>
      <p:pic>
        <p:nvPicPr>
          <p:cNvPr id="119" name="Google Shape;186;p19" descr="image.png"/>
          <p:cNvPicPr/>
          <p:nvPr/>
        </p:nvPicPr>
        <p:blipFill>
          <a:blip r:embed="rId1"/>
          <a:stretch/>
        </p:blipFill>
        <p:spPr>
          <a:xfrm>
            <a:off x="0" y="0"/>
            <a:ext cx="12191760" cy="6857640"/>
          </a:xfrm>
          <a:prstGeom prst="rect">
            <a:avLst/>
          </a:prstGeom>
          <a:ln w="0">
            <a:noFill/>
          </a:ln>
        </p:spPr>
      </p:pic>
      <p:pic>
        <p:nvPicPr>
          <p:cNvPr id="120" name="Google Shape;187;p19" descr="image.png"/>
          <p:cNvPicPr/>
          <p:nvPr/>
        </p:nvPicPr>
        <p:blipFill>
          <a:blip r:embed="rId2"/>
          <a:stretch/>
        </p:blipFill>
        <p:spPr>
          <a:xfrm>
            <a:off x="6286680" y="1976400"/>
            <a:ext cx="5333760" cy="3809520"/>
          </a:xfrm>
          <a:prstGeom prst="rect">
            <a:avLst/>
          </a:prstGeom>
          <a:ln w="0">
            <a:noFill/>
          </a:ln>
        </p:spPr>
      </p:pic>
      <p:sp>
        <p:nvSpPr>
          <p:cNvPr id="121" name="Google Shape;188;p19"/>
          <p:cNvSpPr/>
          <p:nvPr/>
        </p:nvSpPr>
        <p:spPr>
          <a:xfrm>
            <a:off x="571680" y="2281320"/>
            <a:ext cx="5333760" cy="72972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a:ea typeface="Outfit"/>
              </a:rPr>
              <a:t>Persona Composer Agent</a:t>
            </a:r>
            <a:r>
              <a:rPr b="0" lang="en-US" sz="1500" spc="-1" strike="noStrike">
                <a:solidFill>
                  <a:srgbClr val="94a3b8"/>
                </a:solidFill>
                <a:latin typeface="Outfit Light"/>
                <a:ea typeface="Outfit Light"/>
              </a:rPr>
              <a:t> nhận bản Brief và tự động định dạng phù hợp cho từng kênh:</a:t>
            </a:r>
            <a:endParaRPr b="0" lang="en-US" sz="1500" spc="-1" strike="noStrike">
              <a:latin typeface="Arial"/>
            </a:endParaRPr>
          </a:p>
        </p:txBody>
      </p:sp>
      <p:sp>
        <p:nvSpPr>
          <p:cNvPr id="122" name="Google Shape;189;p19"/>
          <p:cNvSpPr/>
          <p:nvPr/>
        </p:nvSpPr>
        <p:spPr>
          <a:xfrm>
            <a:off x="1085760" y="3081240"/>
            <a:ext cx="4819320" cy="72972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a:ea typeface="Outfit"/>
              </a:rPr>
              <a:t>GitHub Comment:</a:t>
            </a:r>
            <a:r>
              <a:rPr b="0" lang="en-US" sz="1500" spc="-1" strike="noStrike">
                <a:solidFill>
                  <a:srgbClr val="94a3b8"/>
                </a:solidFill>
                <a:latin typeface="Outfit Light"/>
                <a:ea typeface="Outfit Light"/>
              </a:rPr>
              <a:t> Đầy đủ chi tiết kỹ thuật cho người duyệt code.</a:t>
            </a:r>
            <a:endParaRPr b="0" lang="en-US" sz="1500" spc="-1" strike="noStrike">
              <a:latin typeface="Arial"/>
            </a:endParaRPr>
          </a:p>
        </p:txBody>
      </p:sp>
      <p:sp>
        <p:nvSpPr>
          <p:cNvPr id="123" name="Google Shape;190;p19"/>
          <p:cNvSpPr/>
          <p:nvPr/>
        </p:nvSpPr>
        <p:spPr>
          <a:xfrm>
            <a:off x="1076400" y="3881520"/>
            <a:ext cx="4828680" cy="72972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a:ea typeface="Outfit"/>
              </a:rPr>
              <a:t>Slack Channel:</a:t>
            </a:r>
            <a:r>
              <a:rPr b="0" lang="en-US" sz="1500" spc="-1" strike="noStrike">
                <a:solidFill>
                  <a:srgbClr val="94a3b8"/>
                </a:solidFill>
                <a:latin typeface="Outfit Light"/>
                <a:ea typeface="Outfit Light"/>
              </a:rPr>
              <a:t> Thẻ thông báo ngắn gọn, nhấn mạnh rủi ro và trạng thái.</a:t>
            </a:r>
            <a:endParaRPr b="0" lang="en-US" sz="1500" spc="-1" strike="noStrike">
              <a:latin typeface="Arial"/>
            </a:endParaRPr>
          </a:p>
        </p:txBody>
      </p:sp>
      <p:sp>
        <p:nvSpPr>
          <p:cNvPr id="124" name="Google Shape;191;p19"/>
          <p:cNvSpPr/>
          <p:nvPr/>
        </p:nvSpPr>
        <p:spPr>
          <a:xfrm>
            <a:off x="1143000" y="4681440"/>
            <a:ext cx="4762080" cy="72972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a:ea typeface="Outfit"/>
              </a:rPr>
              <a:t>Discord Webhook:</a:t>
            </a:r>
            <a:r>
              <a:rPr b="0" lang="en-US" sz="1500" spc="-1" strike="noStrike">
                <a:solidFill>
                  <a:srgbClr val="94a3b8"/>
                </a:solidFill>
                <a:latin typeface="Outfit Light"/>
                <a:ea typeface="Outfit Light"/>
              </a:rPr>
              <a:t> Push thông báo Real-time theo repo đã setup.</a:t>
            </a:r>
            <a:endParaRPr b="0" lang="en-US" sz="1500" spc="-1" strike="noStrike">
              <a:latin typeface="Arial"/>
            </a:endParaRPr>
          </a:p>
        </p:txBody>
      </p:sp>
      <p:pic>
        <p:nvPicPr>
          <p:cNvPr id="125" name="Google Shape;192;p19" descr="image.png"/>
          <p:cNvPicPr/>
          <p:nvPr/>
        </p:nvPicPr>
        <p:blipFill>
          <a:blip r:embed="rId3"/>
          <a:stretch/>
        </p:blipFill>
        <p:spPr>
          <a:xfrm>
            <a:off x="571680" y="3133800"/>
            <a:ext cx="180720" cy="199800"/>
          </a:xfrm>
          <a:prstGeom prst="rect">
            <a:avLst/>
          </a:prstGeom>
          <a:ln w="0">
            <a:noFill/>
          </a:ln>
        </p:spPr>
      </p:pic>
      <p:pic>
        <p:nvPicPr>
          <p:cNvPr id="126" name="Google Shape;193;p19" descr="image.png"/>
          <p:cNvPicPr/>
          <p:nvPr/>
        </p:nvPicPr>
        <p:blipFill>
          <a:blip r:embed="rId4"/>
          <a:stretch/>
        </p:blipFill>
        <p:spPr>
          <a:xfrm>
            <a:off x="571680" y="3933720"/>
            <a:ext cx="171000" cy="199800"/>
          </a:xfrm>
          <a:prstGeom prst="rect">
            <a:avLst/>
          </a:prstGeom>
          <a:ln w="0">
            <a:noFill/>
          </a:ln>
        </p:spPr>
      </p:pic>
      <p:pic>
        <p:nvPicPr>
          <p:cNvPr id="127" name="Google Shape;194;p19" descr="image.png"/>
          <p:cNvPicPr/>
          <p:nvPr/>
        </p:nvPicPr>
        <p:blipFill>
          <a:blip r:embed="rId5"/>
          <a:stretch/>
        </p:blipFill>
        <p:spPr>
          <a:xfrm>
            <a:off x="571680" y="4734000"/>
            <a:ext cx="237600" cy="199800"/>
          </a:xfrm>
          <a:prstGeom prst="rect">
            <a:avLst/>
          </a:prstGeom>
          <a:ln w="0">
            <a:noFill/>
          </a:ln>
        </p:spPr>
      </p:pic>
      <p:sp>
        <p:nvSpPr>
          <p:cNvPr id="128" name="Google Shape;195;p19"/>
          <p:cNvSpPr/>
          <p:nvPr/>
        </p:nvSpPr>
        <p:spPr>
          <a:xfrm>
            <a:off x="762120" y="476280"/>
            <a:ext cx="11401200" cy="50292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3300" spc="-1" strike="noStrike">
                <a:solidFill>
                  <a:srgbClr val="f8fafc"/>
                </a:solidFill>
                <a:latin typeface="Outfit ExtraBold"/>
                <a:ea typeface="Outfit ExtraBold"/>
              </a:rPr>
              <a:t>Đóng gói &amp; Phân phối (Delivery)</a:t>
            </a:r>
            <a:endParaRPr b="0" lang="en-US" sz="3300" spc="-1" strike="noStrike">
              <a:latin typeface="Arial"/>
            </a:endParaRPr>
          </a:p>
        </p:txBody>
      </p:sp>
      <p:sp>
        <p:nvSpPr>
          <p:cNvPr id="129" name="Google Shape;196;p19"/>
          <p:cNvSpPr/>
          <p:nvPr/>
        </p:nvSpPr>
        <p:spPr>
          <a:xfrm>
            <a:off x="571680" y="476280"/>
            <a:ext cx="56880" cy="523440"/>
          </a:xfrm>
          <a:prstGeom prst="rect">
            <a:avLst/>
          </a:prstGeom>
          <a:solidFill>
            <a:srgbClr val="6366f1"/>
          </a:solidFill>
          <a:ln w="0">
            <a:noFill/>
          </a:ln>
        </p:spPr>
        <p:style>
          <a:lnRef idx="0"/>
          <a:fillRef idx="0"/>
          <a:effectRef idx="0"/>
          <a:fontRef idx="minor"/>
        </p:style>
      </p:sp>
      <p:pic>
        <p:nvPicPr>
          <p:cNvPr id="130" name="Google Shape;197;p19" descr=""/>
          <p:cNvPicPr/>
          <p:nvPr/>
        </p:nvPicPr>
        <p:blipFill>
          <a:blip r:embed="rId6"/>
          <a:stretch/>
        </p:blipFill>
        <p:spPr>
          <a:xfrm>
            <a:off x="6188040" y="2053440"/>
            <a:ext cx="5753160" cy="34372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1214"/>
        </a:solidFill>
      </p:bgPr>
    </p:bg>
    <p:spTree>
      <p:nvGrpSpPr>
        <p:cNvPr id="1" name=""/>
        <p:cNvGrpSpPr/>
        <p:nvPr/>
      </p:nvGrpSpPr>
      <p:grpSpPr>
        <a:xfrm>
          <a:off x="0" y="0"/>
          <a:ext cx="0" cy="0"/>
          <a:chOff x="0" y="0"/>
          <a:chExt cx="0" cy="0"/>
        </a:xfrm>
      </p:grpSpPr>
      <p:pic>
        <p:nvPicPr>
          <p:cNvPr id="131" name="Google Shape;202;p20" descr="image.png"/>
          <p:cNvPicPr/>
          <p:nvPr/>
        </p:nvPicPr>
        <p:blipFill>
          <a:blip r:embed="rId1"/>
          <a:stretch/>
        </p:blipFill>
        <p:spPr>
          <a:xfrm>
            <a:off x="0" y="0"/>
            <a:ext cx="12191760" cy="6857640"/>
          </a:xfrm>
          <a:prstGeom prst="rect">
            <a:avLst/>
          </a:prstGeom>
          <a:ln w="0">
            <a:noFill/>
          </a:ln>
        </p:spPr>
      </p:pic>
      <p:sp>
        <p:nvSpPr>
          <p:cNvPr id="132" name="Google Shape;203;p20"/>
          <p:cNvSpPr/>
          <p:nvPr/>
        </p:nvSpPr>
        <p:spPr>
          <a:xfrm>
            <a:off x="571680" y="2576520"/>
            <a:ext cx="8572320" cy="40140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650" spc="-1" strike="noStrike">
                <a:solidFill>
                  <a:srgbClr val="94a3b8"/>
                </a:solidFill>
                <a:latin typeface="Outfit Light"/>
                <a:ea typeface="Outfit Light"/>
              </a:rPr>
              <a:t>AI không tự suy diễn. Dữ liệu đầu vào được quản lý chặt chẽ qua 4 nguồn:</a:t>
            </a:r>
            <a:endParaRPr b="0" lang="en-US" sz="1650" spc="-1" strike="noStrike">
              <a:latin typeface="Arial"/>
            </a:endParaRPr>
          </a:p>
        </p:txBody>
      </p:sp>
      <p:sp>
        <p:nvSpPr>
          <p:cNvPr id="133" name="Google Shape;204;p20"/>
          <p:cNvSpPr/>
          <p:nvPr/>
        </p:nvSpPr>
        <p:spPr>
          <a:xfrm>
            <a:off x="1095480" y="3197520"/>
            <a:ext cx="8048160" cy="36468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a:ea typeface="Outfit"/>
              </a:rPr>
              <a:t>GitHub Webhook Payload:</a:t>
            </a:r>
            <a:r>
              <a:rPr b="0" lang="en-US" sz="1500" spc="-1" strike="noStrike">
                <a:solidFill>
                  <a:srgbClr val="94a3b8"/>
                </a:solidFill>
                <a:latin typeface="Outfit Light"/>
                <a:ea typeface="Outfit Light"/>
              </a:rPr>
              <a:t> Xác định loại sự kiện (Event), Author, Labels, Head SHA.</a:t>
            </a:r>
            <a:endParaRPr b="0" lang="en-US" sz="1500" spc="-1" strike="noStrike">
              <a:latin typeface="Arial"/>
            </a:endParaRPr>
          </a:p>
        </p:txBody>
      </p:sp>
      <p:sp>
        <p:nvSpPr>
          <p:cNvPr id="134" name="Google Shape;205;p20"/>
          <p:cNvSpPr/>
          <p:nvPr/>
        </p:nvSpPr>
        <p:spPr>
          <a:xfrm>
            <a:off x="1095480" y="3692880"/>
            <a:ext cx="8048160" cy="36468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a:ea typeface="Outfit"/>
              </a:rPr>
              <a:t>GitHub API:</a:t>
            </a:r>
            <a:r>
              <a:rPr b="0" lang="en-US" sz="1500" spc="-1" strike="noStrike">
                <a:solidFill>
                  <a:srgbClr val="94a3b8"/>
                </a:solidFill>
                <a:latin typeface="Outfit Light"/>
                <a:ea typeface="Outfit Light"/>
              </a:rPr>
              <a:t> Kéo nội dung thực tế, các file thay đổi và lịch sử comment.</a:t>
            </a:r>
            <a:endParaRPr b="0" lang="en-US" sz="1500" spc="-1" strike="noStrike">
              <a:latin typeface="Arial"/>
            </a:endParaRPr>
          </a:p>
        </p:txBody>
      </p:sp>
      <p:sp>
        <p:nvSpPr>
          <p:cNvPr id="135" name="Google Shape;206;p20"/>
          <p:cNvSpPr/>
          <p:nvPr/>
        </p:nvSpPr>
        <p:spPr>
          <a:xfrm>
            <a:off x="1095480" y="4195440"/>
            <a:ext cx="8048160" cy="72972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a:ea typeface="Outfit"/>
              </a:rPr>
              <a:t>Internal Store:</a:t>
            </a:r>
            <a:r>
              <a:rPr b="0" lang="en-US" sz="1500" spc="-1" strike="noStrike">
                <a:solidFill>
                  <a:srgbClr val="94a3b8"/>
                </a:solidFill>
                <a:latin typeface="Outfit Light"/>
                <a:ea typeface="Outfit Light"/>
              </a:rPr>
              <a:t> Bộ nhớ repo (Repo memory) lưu lịch sử lỗi, cấu hình tích hợp kênh chat.</a:t>
            </a:r>
            <a:endParaRPr b="0" lang="en-US" sz="1500" spc="-1" strike="noStrike">
              <a:latin typeface="Arial"/>
            </a:endParaRPr>
          </a:p>
        </p:txBody>
      </p:sp>
      <p:sp>
        <p:nvSpPr>
          <p:cNvPr id="136" name="Google Shape;207;p20"/>
          <p:cNvSpPr/>
          <p:nvPr/>
        </p:nvSpPr>
        <p:spPr>
          <a:xfrm>
            <a:off x="1143000" y="4690800"/>
            <a:ext cx="8000640" cy="729720"/>
          </a:xfrm>
          <a:prstGeom prst="rect">
            <a:avLst/>
          </a:prstGeom>
          <a:noFill/>
          <a:ln w="0">
            <a:noFill/>
          </a:ln>
        </p:spPr>
        <p:style>
          <a:lnRef idx="0"/>
          <a:fillRef idx="0"/>
          <a:effectRef idx="0"/>
          <a:fontRef idx="minor"/>
        </p:style>
        <p:txBody>
          <a:bodyPr lIns="0" rIns="0" tIns="0" bIns="0" anchor="t">
            <a:spAutoFit/>
          </a:bodyPr>
          <a:p>
            <a:pPr>
              <a:lnSpc>
                <a:spcPct val="160000"/>
              </a:lnSpc>
              <a:buNone/>
              <a:tabLst>
                <a:tab algn="l" pos="0"/>
              </a:tabLst>
            </a:pPr>
            <a:r>
              <a:rPr b="0" lang="en-US" sz="1500" spc="-1" strike="noStrike">
                <a:solidFill>
                  <a:srgbClr val="94a3b8"/>
                </a:solidFill>
                <a:latin typeface="Outfit"/>
                <a:ea typeface="Outfit"/>
              </a:rPr>
              <a:t>User Session:</a:t>
            </a:r>
            <a:r>
              <a:rPr b="0" lang="en-US" sz="1500" spc="-1" strike="noStrike">
                <a:solidFill>
                  <a:srgbClr val="94a3b8"/>
                </a:solidFill>
                <a:latin typeface="Outfit Light"/>
                <a:ea typeface="Outfit Light"/>
              </a:rPr>
              <a:t> Giới hạn quyền truy cập, đảm bảo AI chỉ phân tích kho lưu trữ được phép.</a:t>
            </a:r>
            <a:endParaRPr b="0" lang="en-US" sz="1500" spc="-1" strike="noStrike">
              <a:latin typeface="Arial"/>
            </a:endParaRPr>
          </a:p>
        </p:txBody>
      </p:sp>
      <p:pic>
        <p:nvPicPr>
          <p:cNvPr id="137" name="Google Shape;208;p20" descr="image.png"/>
          <p:cNvPicPr/>
          <p:nvPr/>
        </p:nvPicPr>
        <p:blipFill>
          <a:blip r:embed="rId2"/>
          <a:stretch/>
        </p:blipFill>
        <p:spPr>
          <a:xfrm>
            <a:off x="571680" y="3249720"/>
            <a:ext cx="190080" cy="199800"/>
          </a:xfrm>
          <a:prstGeom prst="rect">
            <a:avLst/>
          </a:prstGeom>
          <a:ln w="0">
            <a:noFill/>
          </a:ln>
        </p:spPr>
      </p:pic>
      <p:pic>
        <p:nvPicPr>
          <p:cNvPr id="138" name="Google Shape;209;p20" descr="image.png"/>
          <p:cNvPicPr/>
          <p:nvPr/>
        </p:nvPicPr>
        <p:blipFill>
          <a:blip r:embed="rId3"/>
          <a:stretch/>
        </p:blipFill>
        <p:spPr>
          <a:xfrm>
            <a:off x="571680" y="3745080"/>
            <a:ext cx="190080" cy="199800"/>
          </a:xfrm>
          <a:prstGeom prst="rect">
            <a:avLst/>
          </a:prstGeom>
          <a:ln w="0">
            <a:noFill/>
          </a:ln>
        </p:spPr>
      </p:pic>
      <p:pic>
        <p:nvPicPr>
          <p:cNvPr id="139" name="Google Shape;210;p20" descr="image.png"/>
          <p:cNvPicPr/>
          <p:nvPr/>
        </p:nvPicPr>
        <p:blipFill>
          <a:blip r:embed="rId4"/>
          <a:stretch/>
        </p:blipFill>
        <p:spPr>
          <a:xfrm>
            <a:off x="571680" y="4248000"/>
            <a:ext cx="190080" cy="199800"/>
          </a:xfrm>
          <a:prstGeom prst="rect">
            <a:avLst/>
          </a:prstGeom>
          <a:ln w="0">
            <a:noFill/>
          </a:ln>
        </p:spPr>
      </p:pic>
      <p:pic>
        <p:nvPicPr>
          <p:cNvPr id="140" name="Google Shape;211;p20" descr="image.png"/>
          <p:cNvPicPr/>
          <p:nvPr/>
        </p:nvPicPr>
        <p:blipFill>
          <a:blip r:embed="rId5"/>
          <a:stretch/>
        </p:blipFill>
        <p:spPr>
          <a:xfrm>
            <a:off x="571680" y="4743360"/>
            <a:ext cx="237600" cy="199800"/>
          </a:xfrm>
          <a:prstGeom prst="rect">
            <a:avLst/>
          </a:prstGeom>
          <a:ln w="0">
            <a:noFill/>
          </a:ln>
        </p:spPr>
      </p:pic>
      <p:sp>
        <p:nvSpPr>
          <p:cNvPr id="141" name="Google Shape;212;p20"/>
          <p:cNvSpPr/>
          <p:nvPr/>
        </p:nvSpPr>
        <p:spPr>
          <a:xfrm>
            <a:off x="762120" y="476280"/>
            <a:ext cx="11401200" cy="50292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3300" spc="-1" strike="noStrike">
                <a:solidFill>
                  <a:srgbClr val="f8fafc"/>
                </a:solidFill>
                <a:latin typeface="Outfit ExtraBold"/>
                <a:ea typeface="Outfit ExtraBold"/>
              </a:rPr>
              <a:t>Nguồn Dữ Liệu Của AI</a:t>
            </a:r>
            <a:endParaRPr b="0" lang="en-US" sz="3300" spc="-1" strike="noStrike">
              <a:latin typeface="Arial"/>
            </a:endParaRPr>
          </a:p>
        </p:txBody>
      </p:sp>
      <p:sp>
        <p:nvSpPr>
          <p:cNvPr id="142" name="Google Shape;213;p20"/>
          <p:cNvSpPr/>
          <p:nvPr/>
        </p:nvSpPr>
        <p:spPr>
          <a:xfrm>
            <a:off x="571680" y="476280"/>
            <a:ext cx="56880" cy="523440"/>
          </a:xfrm>
          <a:prstGeom prst="rect">
            <a:avLst/>
          </a:prstGeom>
          <a:solidFill>
            <a:srgbClr val="6366f1"/>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2026-04-09T23:32:29Z</dcterms:modified>
  <cp:revision>1</cp:revision>
  <dc:subject/>
  <dc:title/>
</cp:coreProperties>
</file>